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Plus Jakarta Sans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3a394536-32c8-44ab-8ea1-8ba7abf8a870.fntdata" /><ns0:Relationship Id="rIdFont20" Type="http://schemas.openxmlformats.org/officeDocument/2006/relationships/font" Target="fonts/c21601dd-2f5a-4a8d-a76e-5bf2640acb6a.fntdata" /><ns0:Relationship Id="rIdFont21" Type="http://schemas.openxmlformats.org/officeDocument/2006/relationships/font" Target="fonts/6ee8ee25-6bfc-4570-8e21-a29196400c1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8548"/>
            <a:ext cx="109728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03176"/>
            <a:ext cx="1609725" cy="276225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578548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108001"/>
            <a:ext cx="9101137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lus Jakarta Sans"/>
              </a:rPr>
              <a:t>Static Testing Fundamentals &amp; Review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68898"/>
            <a:ext cx="7239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Evaluating software work products without code execution to detect defects early and elevate software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660326"/>
            <a:ext cx="1438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ISTQB® CTFL V4.0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3625" y="1646039"/>
            <a:ext cx="1797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Chapter 3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54773"/>
            <a:ext cx="1631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MODULE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054798"/>
            <a:ext cx="1631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80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9325" y="4854773"/>
            <a:ext cx="3679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KEY FOCUS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9325" y="5054798"/>
            <a:ext cx="3679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Basics, Reviews &amp; Success Factors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6636"/>
            <a:ext cx="5334000" cy="3104852"/>
          </a:xfrm>
          <a:prstGeom prst="roundRect">
            <a:avLst>
              <a:gd name="adj" fmla="val 36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76636"/>
            <a:ext cx="5334000" cy="3104852"/>
          </a:xfrm>
          <a:prstGeom prst="roundRect">
            <a:avLst>
              <a:gd name="adj" fmla="val 36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376636"/>
            <a:ext cx="5334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376636"/>
            <a:ext cx="5334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19536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719536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814786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CHAPTER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Course Learning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9700" y="2786211"/>
            <a:ext cx="320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3.1 Static Testing Basics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036"/>
            <a:ext cx="59055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3.1.1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Work Products Examinable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68166"/>
            <a:ext cx="59055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3.1.2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Value of Static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5297"/>
            <a:ext cx="59055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3.1.3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Static vs. Dynamic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0" y="2786211"/>
            <a:ext cx="423802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3.2 Feedback &amp; Review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291036"/>
            <a:ext cx="56388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3.2.1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Early Stakeholder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668166"/>
            <a:ext cx="56388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3.2.2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Review Process Activities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045297"/>
            <a:ext cx="56388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3.2.3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Roles &amp; Responsibilities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422427"/>
            <a:ext cx="56388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3.2.4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Review Types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799558"/>
            <a:ext cx="5638800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3.2.5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Key Success Factors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6201"/>
            <a:ext cx="3505200" cy="1889521"/>
          </a:xfrm>
          <a:prstGeom prst="roundRect">
            <a:avLst>
              <a:gd name="adj" fmla="val 60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6201"/>
            <a:ext cx="3505200" cy="1889521"/>
          </a:xfrm>
          <a:prstGeom prst="roundRect">
            <a:avLst>
              <a:gd name="adj" fmla="val 60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6201"/>
            <a:ext cx="3505200" cy="1889521"/>
          </a:xfrm>
          <a:prstGeom prst="roundRect">
            <a:avLst>
              <a:gd name="adj" fmla="val 60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12901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212901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212901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327201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587" y="3327201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Static Testing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784401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08920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Human examination of work products for defects and clarity.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84401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Static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08920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Automated tool evaluation of code structures and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784401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Verification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408920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Assesses specifications against standards and user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0501"/>
            <a:ext cx="3505200" cy="1660921"/>
          </a:xfrm>
          <a:prstGeom prst="roundRect">
            <a:avLst>
              <a:gd name="adj" fmla="val 6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60501"/>
            <a:ext cx="3505200" cy="1660921"/>
          </a:xfrm>
          <a:prstGeom prst="roundRect">
            <a:avLst>
              <a:gd name="adj" fmla="val 6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0501"/>
            <a:ext cx="3505200" cy="1660921"/>
          </a:xfrm>
          <a:prstGeom prst="roundRect">
            <a:avLst>
              <a:gd name="adj" fmla="val 6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27201"/>
            <a:ext cx="29718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27201"/>
            <a:ext cx="29718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27201"/>
            <a:ext cx="29718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Work Products Examinable by Static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70101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Business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7490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User stories, acceptance criteria, epics, and specifications.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670101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Architecture 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97490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UML models, database schemas, and system specs.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670101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Code &amp; Testware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97490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Source code, test plans, test cases, and automation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48150"/>
            <a:ext cx="109728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47925"/>
            <a:ext cx="5334000" cy="1495425"/>
          </a:xfrm>
          <a:prstGeom prst="roundRect">
            <a:avLst>
              <a:gd name="adj" fmla="val 764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447925"/>
            <a:ext cx="5334000" cy="1495425"/>
          </a:xfrm>
          <a:prstGeom prst="roundRect">
            <a:avLst>
              <a:gd name="adj" fmla="val 764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6275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486275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38700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838700"/>
            <a:ext cx="171450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Value &amp; Benefits of Static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225" y="2714625"/>
            <a:ext cx="60007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2563EB"/>
                </a:solidFill>
                <a:latin typeface="Inter"/>
              </a:rPr>
              <a:t>10-100x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225" y="3248025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Inter"/>
              </a:rPr>
              <a:t>Cost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225" y="3486150"/>
            <a:ext cx="600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Fixing defects before code execution costs exponentially less.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5025" y="2714625"/>
            <a:ext cx="60007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16A34A"/>
                </a:solidFill>
                <a:latin typeface="Inter"/>
              </a:rPr>
              <a:t>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5025" y="3248025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Inter"/>
              </a:rPr>
              <a:t>Defect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5025" y="3486150"/>
            <a:ext cx="600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Identifies root causes directly rather than failure symptoms.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476750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Development Velocity: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Reduces rework cycles.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4476750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Communication: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Shared understanding across teams.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4829175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Quality Culture: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Prevents future design flaws.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4829175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Maintainability: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Enhances code readability.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566987"/>
          <a:ext cx="10972800" cy="2571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3200"/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563EB"/>
                          </a:solidFill>
                          <a:latin typeface="Inter"/>
                        </a:rPr>
                        <a:t>Static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nter"/>
                        </a:rPr>
                        <a:t>Dynamic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Code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No software execution required.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Requires active software execution.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Primary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Finds defects directly in artifacts.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Detects operational failures.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Defect Types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Inconsistencies, dead code, security flaws.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Memory leaks, performance bottlenecks.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SDLC Timing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Applied very early in development.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Applied when code is executable.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Static Testing vs. Dynamic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5251"/>
            <a:ext cx="3505200" cy="1851421"/>
          </a:xfrm>
          <a:prstGeom prst="roundRect">
            <a:avLst>
              <a:gd name="adj" fmla="val 61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5251"/>
            <a:ext cx="3505200" cy="1851421"/>
          </a:xfrm>
          <a:prstGeom prst="roundRect">
            <a:avLst>
              <a:gd name="adj" fmla="val 61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5251"/>
            <a:ext cx="3505200" cy="1851421"/>
          </a:xfrm>
          <a:prstGeom prst="roundRect">
            <a:avLst>
              <a:gd name="adj" fmla="val 61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31951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231951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231951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" y="3336726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062" y="3336726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725" y="3336726"/>
            <a:ext cx="1333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Early &amp; Frequent Stakeholder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765351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Misunderstanding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7015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Prevents requirement misinterpretations 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765351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Shared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07015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Aligns business goals with engineering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765351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Rapid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070151"/>
            <a:ext cx="3067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Validates features prior to full construction.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207258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3138487"/>
            <a:ext cx="207258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3138487"/>
            <a:ext cx="207258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3138487"/>
            <a:ext cx="207258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3138487"/>
            <a:ext cx="207258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3848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580" y="313848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9560" y="313848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84541" y="313848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521" y="313848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5 Review Process Activities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367087"/>
            <a:ext cx="2114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STEP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605212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881437"/>
            <a:ext cx="178683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Scope, entry/exit criteria, roles allocated.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5080" y="3367087"/>
            <a:ext cx="2114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5080" y="3605212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Initiate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5080" y="3881437"/>
            <a:ext cx="17868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Distribute work products and briefs.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0060" y="3367087"/>
            <a:ext cx="2114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STEP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0060" y="3605212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Individual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060" y="3881437"/>
            <a:ext cx="17868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Evaluates quality and logs potential defects.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5041" y="3367087"/>
            <a:ext cx="2114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5041" y="3605212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5041" y="3881437"/>
            <a:ext cx="17868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Analyzes defects and confirms status.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0021" y="3367087"/>
            <a:ext cx="2114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STEP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0021" y="3605212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Fixing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0021" y="3881437"/>
            <a:ext cx="178683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Remediates defects and checks exit criteria.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87425"/>
            <a:ext cx="539115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787425"/>
            <a:ext cx="539115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86001"/>
            <a:ext cx="539115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486001"/>
            <a:ext cx="539115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184725"/>
            <a:ext cx="539115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5184725"/>
            <a:ext cx="539115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200" y="2001738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850" y="2001738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8200" y="3700313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850" y="3700313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200" y="5399037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850" y="5399037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3.2.3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Roles &amp; Responsibilities in Formal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00173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975" y="200173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370031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6975" y="370031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53990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975" y="53990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1977925"/>
            <a:ext cx="4400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2177950"/>
            <a:ext cx="4191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Creates work product; fixes identified defects.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1977925"/>
            <a:ext cx="44380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177950"/>
            <a:ext cx="4226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Allocates resources; decides review execution.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3676501"/>
            <a:ext cx="43005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Facilitator (Moderator)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3876526"/>
            <a:ext cx="4095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Ensures effective running of review meetings.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5150" y="3676501"/>
            <a:ext cx="398799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Review Leader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5150" y="3876526"/>
            <a:ext cx="3798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Takes overall responsibility for the review.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3500" y="5375225"/>
            <a:ext cx="40255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Reviewers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3500" y="5575250"/>
            <a:ext cx="3833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Subject matter experts; identify anomalies.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5150" y="5375225"/>
            <a:ext cx="423802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Scribe (Recorder)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5150" y="5575250"/>
            <a:ext cx="4036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Documents review findings and action items.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7582"/>
            <a:ext cx="2600325" cy="1668512"/>
          </a:xfrm>
          <a:prstGeom prst="roundRect">
            <a:avLst>
              <a:gd name="adj" fmla="val 68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37582"/>
            <a:ext cx="2600325" cy="1668512"/>
          </a:xfrm>
          <a:prstGeom prst="roundRect">
            <a:avLst>
              <a:gd name="adj" fmla="val 68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37582"/>
            <a:ext cx="2600325" cy="1668512"/>
          </a:xfrm>
          <a:prstGeom prst="roundRect">
            <a:avLst>
              <a:gd name="adj" fmla="val 68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37582"/>
            <a:ext cx="2600325" cy="1668512"/>
          </a:xfrm>
          <a:prstGeom prst="roundRect">
            <a:avLst>
              <a:gd name="adj" fmla="val 6850"/>
            </a:avLst>
          </a:prstGeom>
          <a:solidFill>
            <a:srgbClr val="F8FAFC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82075" y="3037582"/>
            <a:ext cx="2600325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Four Core Review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66182"/>
            <a:ext cx="2238375" cy="1211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Least Formal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25" y="3266182"/>
            <a:ext cx="2238375" cy="1211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Guided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3266182"/>
            <a:ext cx="2238375" cy="1211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Expert-Led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0675" y="3266182"/>
            <a:ext cx="2238375" cy="1211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Most Formal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13832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Informal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799582"/>
            <a:ext cx="22383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Detects defects inexpensively; buddy check or pair programming.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513832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799582"/>
            <a:ext cx="22383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Author-led session; scenario dry-runs and defect finding.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513832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Technical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3799582"/>
            <a:ext cx="22383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Peer examination by technical experts; solves technical issues.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551932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675" y="3837682"/>
            <a:ext cx="22383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Formal process based on rules, metrics, and trained moderator.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5334000" cy="2724150"/>
          </a:xfrm>
          <a:prstGeom prst="roundRect">
            <a:avLst>
              <a:gd name="adj" fmla="val 4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28887"/>
            <a:ext cx="5334000" cy="2724150"/>
          </a:xfrm>
          <a:prstGeom prst="roundRect">
            <a:avLst>
              <a:gd name="adj" fmla="val 4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52737"/>
            <a:ext cx="26670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52737"/>
            <a:ext cx="26670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SECTION 3.2.5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Success Factors for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833687"/>
            <a:ext cx="331291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People &amp; Culture Factors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33737"/>
            <a:ext cx="5905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Objective Tone: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Welcome defect findings constructively.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76637"/>
            <a:ext cx="4819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Psychological Safety: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Build a trust-based learning culture.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62437"/>
            <a:ext cx="4819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Management Support: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Provide adequate time and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2833687"/>
            <a:ext cx="378797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Technical &amp; Process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233737"/>
            <a:ext cx="56388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Clear Objectives: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Define distinct review goals.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576637"/>
            <a:ext cx="56388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Preparation Time: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Ensure reviewers have adequate prep.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919537"/>
            <a:ext cx="4819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Checklists &amp; Roles: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Use techniques like perspective reading.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0" y="2038350"/>
            <a:ext cx="1905000" cy="276225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8587" y="4143375"/>
            <a:ext cx="4314825" cy="676275"/>
          </a:xfrm>
          <a:prstGeom prst="roundRect">
            <a:avLst>
              <a:gd name="adj" fmla="val 1690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725" y="2095500"/>
            <a:ext cx="2114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CHAPTER 3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5506" y="2505075"/>
            <a:ext cx="790098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Plus Jakarta Sans"/>
              </a:rPr>
              <a:t>Static Testing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190875"/>
            <a:ext cx="8334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Detect defects earlier, lower development costs, and build high-quality software through systematic reviews and static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7390" y="4381500"/>
            <a:ext cx="4417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Questions &amp; Knowledge Check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