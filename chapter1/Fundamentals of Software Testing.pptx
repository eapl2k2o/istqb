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bold ns1:id="rIdFont20"/>
      <ns0:regular ns1:id="rIdFont21"/>
    </ns0:embeddedFont>
    <ns0:embeddedFont>
      <ns0:font typeface="Space Grotesk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e02c5063-0cc5-459c-9ec7-27b21d2364ef.fntdata" /><ns0:Relationship Id="rIdFont21" Type="http://schemas.openxmlformats.org/officeDocument/2006/relationships/font" Target="fonts/bb7b8472-703d-4ac3-8dd7-aee73c6d68a0.fntdata" /><ns0:Relationship Id="rIdFont22" Type="http://schemas.openxmlformats.org/officeDocument/2006/relationships/font" Target="fonts/4e4d25ab-af33-47ad-9aa6-721e36d90b5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32870"/>
            <a:ext cx="571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87029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ISTQB FOUNDATION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34679"/>
            <a:ext cx="8601075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Chapter 1: Fundamentals of Software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51820"/>
            <a:ext cx="6286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Core definitions, objectives, principles, lifecycle activities, and essential engineering practices.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30548"/>
            <a:ext cx="5305425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40273"/>
            <a:ext cx="5305425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49998"/>
            <a:ext cx="5305425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925" y="2040135"/>
            <a:ext cx="532447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049660"/>
            <a:ext cx="5305425" cy="3600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1830585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440310"/>
            <a:ext cx="1428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5050035"/>
            <a:ext cx="1428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1.1 CORE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Software Testing?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1575" y="1806773"/>
            <a:ext cx="5938242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Systematic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159198"/>
            <a:ext cx="4848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Assesses software quality and verifies compliance with specified functional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950" y="3416498"/>
            <a:ext cx="5988248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Dynamic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768923"/>
            <a:ext cx="4848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Executes software code with real input data to observe runtime behavior and operational failures.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950" y="5026223"/>
            <a:ext cx="5988248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Static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5378648"/>
            <a:ext cx="48482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Reviews requirements, user stories, and source code without executing the program.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35410"/>
            <a:ext cx="5353050" cy="3028950"/>
          </a:xfrm>
          <a:prstGeom prst="roundRect">
            <a:avLst>
              <a:gd name="adj" fmla="val 377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444948"/>
            <a:ext cx="5353050" cy="2809875"/>
          </a:xfrm>
          <a:prstGeom prst="roundRect">
            <a:avLst>
              <a:gd name="adj" fmla="val 406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354835"/>
            <a:ext cx="5353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335410"/>
            <a:ext cx="535305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35410"/>
            <a:ext cx="9525" cy="3028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53125" y="2335410"/>
            <a:ext cx="9525" cy="3028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9350" y="5245298"/>
            <a:ext cx="5353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29350" y="2444948"/>
            <a:ext cx="535305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9350" y="2444948"/>
            <a:ext cx="9525" cy="2809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2444948"/>
            <a:ext cx="9525" cy="28098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640210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2749748"/>
            <a:ext cx="4572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2754510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2864048"/>
            <a:ext cx="2857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1.1 DISTINCT DISCIPLINES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Testing vs. Debugging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249810"/>
            <a:ext cx="63007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Software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649860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Discovers software defects and evaluates system conformity.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3359348"/>
            <a:ext cx="56864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3759398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Locates, fixes, and verifies resolution of root code errors.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4240410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Executes or reviews work 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455473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Goal: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Reveals system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4869060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Role: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Test Engineers &amp; Analysts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130873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Investigates code logic issues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4445198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Goal: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Eliminates defect causes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5575" y="4759523"/>
            <a:ext cx="56864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Role: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Software Developers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8823"/>
            <a:ext cx="2600325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59285"/>
            <a:ext cx="2600325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859285"/>
            <a:ext cx="2600325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59285"/>
            <a:ext cx="2600325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3245048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87" y="313551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012" y="313551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937" y="3135510"/>
            <a:ext cx="2286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1.1 CORE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Primary Objectives of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844" y="3702248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Defect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840" y="4016573"/>
            <a:ext cx="2559843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Prevents bugs from reaching live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6669" y="3592710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Risk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665" y="3907035"/>
            <a:ext cx="2559843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Lowers financial and operational failure hazards.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7494" y="3592710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Quality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490" y="3907035"/>
            <a:ext cx="2559843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Builds stakeholder confidence through transparent metrics.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8319" y="3592710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2315" y="3907035"/>
            <a:ext cx="2559843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Ensures adherence to legal and regulatory standards.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0673"/>
            <a:ext cx="5334000" cy="2638425"/>
          </a:xfrm>
          <a:prstGeom prst="roundRect">
            <a:avLst>
              <a:gd name="adj" fmla="val 433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30673"/>
            <a:ext cx="5334000" cy="2638425"/>
          </a:xfrm>
          <a:prstGeom prst="roundRect">
            <a:avLst>
              <a:gd name="adj" fmla="val 433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4130873"/>
            <a:ext cx="47815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4130873"/>
            <a:ext cx="47815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4330898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0" y="4330898"/>
            <a:ext cx="1524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1.1 QUALITY PERSPECTIVES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Verification vs.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806898"/>
            <a:ext cx="5976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054548"/>
            <a:ext cx="6275784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"Are we building the product right?"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540323"/>
            <a:ext cx="4876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Checks if work products conform to documented specifications.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806898"/>
            <a:ext cx="5667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054548"/>
            <a:ext cx="56673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"Are we building the right product?"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540323"/>
            <a:ext cx="4876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Evaluates whether the system fulfills actual user operational needs.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4292798"/>
            <a:ext cx="4552950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lus Jakarta Sans"/>
              </a:rPr>
              <a:t>Static techniques: Reviews, walkthroughs, inspections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6550" y="4292798"/>
            <a:ext cx="4552950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Plus Jakarta Sans"/>
              </a:rPr>
              <a:t>Dynamic techniques: User acceptance, live environment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6435"/>
            <a:ext cx="3270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60825" y="2916435"/>
            <a:ext cx="3270200" cy="1866900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12050" y="2916435"/>
            <a:ext cx="3270200" cy="1866900"/>
          </a:xfrm>
          <a:prstGeom prst="roundRect">
            <a:avLst>
              <a:gd name="adj" fmla="val 612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4125" y="319266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05351" y="319266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56576" y="319266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00" y="3735585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525" y="3735585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1.2 FAILURE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Errors, Defects, and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1250" y="319266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176" y="3726060"/>
            <a:ext cx="356704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Error (Mistake)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106" y="4068960"/>
            <a:ext cx="33971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Human action producing incorrect code or design.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2476" y="319266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2401" y="3726060"/>
            <a:ext cx="356704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Defect (Bug / Fault)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7331" y="4068960"/>
            <a:ext cx="33971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Code flaw created by human mistake.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3701" y="319266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3627" y="3726060"/>
            <a:ext cx="356704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lus Jakarta Sans"/>
              </a:rPr>
              <a:t>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8556" y="4068960"/>
            <a:ext cx="339718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System deviation from required operational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811785"/>
            <a:ext cx="2194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04070" y="3811785"/>
            <a:ext cx="4389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93160" y="3811785"/>
            <a:ext cx="4389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383285"/>
            <a:ext cx="2194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04070" y="4383285"/>
            <a:ext cx="4389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93160" y="4383285"/>
            <a:ext cx="4389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954785"/>
            <a:ext cx="2194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04070" y="4954785"/>
            <a:ext cx="438909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93160" y="4954785"/>
            <a:ext cx="4389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9600" y="2730698"/>
          <a:ext cx="10972799" cy="2238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94470"/>
                <a:gridCol w="4389090"/>
                <a:gridCol w="4389239"/>
              </a:tblGrid>
              <a:tr h="55959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Quality Assurance (QA)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Software 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5959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Orientation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Process-oriented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Product-oriented focus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5959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Goal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Defect prevention via standard audits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Defect identification via system execution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959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SDLC Scope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Entire organizational lifecycle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Specific test design and execution phases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1.2 QUALITY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Quality Assurance vs. Software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54435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30735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07035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783335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154435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3030735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3907035"/>
            <a:ext cx="5372100" cy="762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1.3 UNIVERSAL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7 Fundamental Testing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316360"/>
            <a:ext cx="50673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1. Shows presence of defects: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Proves bugs exist, not defect absence.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192660"/>
            <a:ext cx="50673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2. Exhaustive testing impossible: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Risk and priorities guide test depth.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068960"/>
            <a:ext cx="50673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3. Early testing saves money: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Catches errors at lowest repair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945260"/>
            <a:ext cx="50673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4. Defects cluster together: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80% of bugs sit in 20% of modules.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2316360"/>
            <a:ext cx="50673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5. Pesticide paradox: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Repeated tests lose defect-finding power.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3192660"/>
            <a:ext cx="50673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6. Context dependent: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Medical software requires different techniques than games.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4068960"/>
            <a:ext cx="50673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7. Absence-of-errors fallacy: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 Bug-free code fails if user needs are unmet.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06960"/>
            <a:ext cx="173355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57450" y="3306960"/>
            <a:ext cx="173355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05300" y="3306960"/>
            <a:ext cx="173355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53150" y="3306960"/>
            <a:ext cx="173355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0" y="3306960"/>
            <a:ext cx="173355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48850" y="3306960"/>
            <a:ext cx="1733550" cy="108585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1.4 LIFECYCLE ACTIVITIES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Test Process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506985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256" y="3735585"/>
            <a:ext cx="19002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011810"/>
            <a:ext cx="1809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Scope &amp;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9350" y="3506985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4106" y="3735585"/>
            <a:ext cx="19002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9350" y="4011810"/>
            <a:ext cx="1809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Test basis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200" y="3506985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1956" y="3735585"/>
            <a:ext cx="19002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200" y="4011810"/>
            <a:ext cx="1809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Test cases 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5050" y="3506985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STAGE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9806" y="3735585"/>
            <a:ext cx="19002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15050" y="4011810"/>
            <a:ext cx="1809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Suite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2900" y="3506985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STAGE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7656" y="3735585"/>
            <a:ext cx="19002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62900" y="4011810"/>
            <a:ext cx="1809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Run &amp; log bugs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10750" y="3506985"/>
            <a:ext cx="1809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563EB"/>
                </a:solidFill>
                <a:latin typeface="Plus Jakarta Sans"/>
              </a:rPr>
              <a:t>STAGE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506" y="3735585"/>
            <a:ext cx="19002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Completion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0750" y="4011810"/>
            <a:ext cx="1809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Metrics &amp; archiving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06823"/>
            <a:ext cx="5324475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073723"/>
            <a:ext cx="5324475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135385"/>
            <a:ext cx="53435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44910"/>
            <a:ext cx="5324475" cy="3409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506860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4373760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1.4 WORK PRODUCTS &amp;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Testware &amp; Tester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483048"/>
            <a:ext cx="5933241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Testware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835473"/>
            <a:ext cx="48672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Test Plans, Traceability Matrices, Test Cases, Automated Scripts, and Defect Summary Reports created during testing.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4349948"/>
            <a:ext cx="5913239" cy="2381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Test Management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702373"/>
            <a:ext cx="48672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Oversees strategy design, resource allocation, monitoring, and cross-team communication.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7873"/>
            <a:ext cx="2600325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878335"/>
            <a:ext cx="2600325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987873"/>
            <a:ext cx="2600325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2878335"/>
            <a:ext cx="2600325" cy="194310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62" y="3264098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8187" y="3154560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912" y="3264098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9837" y="315456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Space Grotesk"/>
              </a:rPr>
              <a:t>1.5 COMPETENCIES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Essential Tester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844" y="3683198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840" y="3997523"/>
            <a:ext cx="2559843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Clear defect reporting and risk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6669" y="3573660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Critical Thinking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665" y="3887985"/>
            <a:ext cx="2559843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Challenging implicit assumptions and edge cases.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7494" y="3683198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Technical 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490" y="3997523"/>
            <a:ext cx="2559843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Automation frameworks, SQL, and API validation.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8319" y="3573660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Domain Knowledge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2315" y="3887985"/>
            <a:ext cx="2559843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Understanding business workflows and regulatory constraints.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67137" y="4038600"/>
            <a:ext cx="4657725" cy="54292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462" y="4238625"/>
            <a:ext cx="190500" cy="17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0" y="2276475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Space Grotesk"/>
              </a:rPr>
              <a:t>END OF 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5581" y="2524125"/>
            <a:ext cx="670083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25755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Quality is a shared responsibility across the entire development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7828" y="4200525"/>
            <a:ext cx="5036343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Plus Jakarta Sans"/>
              </a:rPr>
              <a:t>Next: Chapter 2 - Testing Throughout the SDLC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1100" y="1394370"/>
            <a:ext cx="9829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1100" y="215637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1100" y="2156370"/>
            <a:ext cx="9829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53724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230877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100" y="1028700"/>
            <a:ext cx="2925365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475" y="1575345"/>
            <a:ext cx="4964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http://www.todaysoftmag.ro/tsm/images/articles/tsm24/a61.png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6475" y="1775370"/>
            <a:ext cx="3036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www.todaysoftmag.com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475" y="2346870"/>
            <a:ext cx="7584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https://framerusercontent.com/images/ymHQZhV9JyNJjctX1lI785VpWw.png?width=1408&amp;height=768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475" y="2546895"/>
            <a:ext cx="2595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www.selementrix.ch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