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Plus Jakarta San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d1bc3c61-9a7e-47a4-a95c-74423fbd4e81.fntdata" /><ns0:Relationship Id="rIdFont21" Type="http://schemas.openxmlformats.org/officeDocument/2006/relationships/font" Target="fonts/da932e17-36f1-4d53-9f67-88594ecb1249.fntdata" /><ns0:Relationship Id="rIdFont22" Type="http://schemas.openxmlformats.org/officeDocument/2006/relationships/font" Target="fonts/0615a29a-36a7-462d-b8ac-ec37acef3b8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459485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731764"/>
            <a:ext cx="2486025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5948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14625" y="4735710"/>
            <a:ext cx="9525" cy="390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53025" y="4735710"/>
            <a:ext cx="9525" cy="390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265164"/>
            <a:ext cx="9301162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8FAFC"/>
                </a:solidFill>
                <a:latin typeface="Plus Jakarta Sans"/>
              </a:rPr>
              <a:t>Testing Throughout the Software Development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506985"/>
            <a:ext cx="7334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deep-dive into SDLC models, test-first approaches, DevOps integration, shift-left strategies, test levels, test types, and maintenance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788914"/>
            <a:ext cx="23145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ISTQB® CTFL v4.0 — CHAPTER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9925" y="1803201"/>
            <a:ext cx="1964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130-Minute Core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35710"/>
            <a:ext cx="2250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SECTION 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35735"/>
            <a:ext cx="2250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Testing in SDLC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8950" y="4735710"/>
            <a:ext cx="2274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SECTION 2.2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8950" y="4935735"/>
            <a:ext cx="2274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Test Levels &amp; Test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7350" y="4735710"/>
            <a:ext cx="19288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SECTION 2.3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7350" y="4935735"/>
            <a:ext cx="1928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Inter"/>
              </a:rPr>
              <a:t>Maintenance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0553"/>
            <a:ext cx="3505200" cy="2731293"/>
          </a:xfrm>
          <a:prstGeom prst="roundRect">
            <a:avLst>
              <a:gd name="adj" fmla="val 41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20553"/>
            <a:ext cx="3505200" cy="2731293"/>
          </a:xfrm>
          <a:prstGeom prst="roundRect">
            <a:avLst>
              <a:gd name="adj" fmla="val 41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20553"/>
            <a:ext cx="3505200" cy="2731293"/>
          </a:xfrm>
          <a:prstGeom prst="roundRect">
            <a:avLst>
              <a:gd name="adj" fmla="val 41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34878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83487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83487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2939653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2939653"/>
            <a:ext cx="1905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2939653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MODULE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Key Syllabus Topics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406378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2.1 SDLC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625453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Development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977878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Aligning test activities with sequential, iterative, and DevOps delivery pipelines.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406378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2.2 LEVELS &amp;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625453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Test Categorization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3977878"/>
            <a:ext cx="29718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Structuring component to acceptance levels alongside functional and non-functional types.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406378"/>
            <a:ext cx="3595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Inter"/>
              </a:rPr>
              <a:t>2.3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3625453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Post-Release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1525" y="3977878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Evaluating production changes, system migrations, and impact analysis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96025" y="2243137"/>
            <a:ext cx="5286375" cy="9429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96025" y="3376612"/>
            <a:ext cx="5286375" cy="9429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96025" y="4510087"/>
            <a:ext cx="5286375" cy="9429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96025" y="2243137"/>
            <a:ext cx="38100" cy="9429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96025" y="3376612"/>
            <a:ext cx="38100" cy="9429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96025" y="4510087"/>
            <a:ext cx="38100" cy="9429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47850"/>
            <a:ext cx="530542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57375"/>
            <a:ext cx="5286375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2.1.1 — SDLC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How SDLC Models Dictate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395537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Sequential Models (Waterfall, V-Model)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633662"/>
            <a:ext cx="4962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Phase-gated approach. Dynamic testing occurs after code completion.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529012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Iterative &amp; Incremental (Agile)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767137"/>
            <a:ext cx="4962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Continuous validation within sprints. Testing overlapping development.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662487"/>
            <a:ext cx="5667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DevOps &amp; Continuous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900612"/>
            <a:ext cx="49625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Automated pipeline execution on code commit. Rapid automated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2109787"/>
            <a:ext cx="5286375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3319462"/>
            <a:ext cx="5286375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4529137"/>
            <a:ext cx="5286375" cy="1057275"/>
          </a:xfrm>
          <a:prstGeom prst="roundRect">
            <a:avLst>
              <a:gd name="adj" fmla="val 9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6050" y="2309812"/>
            <a:ext cx="428625" cy="200025"/>
          </a:xfrm>
          <a:prstGeom prst="roundRect">
            <a:avLst>
              <a:gd name="adj" fmla="val 19047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6050" y="3519487"/>
            <a:ext cx="514350" cy="200025"/>
          </a:xfrm>
          <a:prstGeom prst="roundRect">
            <a:avLst>
              <a:gd name="adj" fmla="val 19047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6050" y="4729162"/>
            <a:ext cx="428625" cy="200025"/>
          </a:xfrm>
          <a:prstGeom prst="roundRect">
            <a:avLst>
              <a:gd name="adj" fmla="val 19047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47850"/>
            <a:ext cx="5305425" cy="400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57375"/>
            <a:ext cx="5286375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2.1.3 — TEST-FIRST APPROACHES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Testing as a Driver for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2566987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Tests written before code. Follows strict Red-Green-Refactor developer cycle.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3776662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Team derives acceptance tests collaboratively before implementing features.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4986337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Scenarios defined in Given-When-Then format readable by business and QA.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2328862"/>
            <a:ext cx="371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TDD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9925" y="2309812"/>
            <a:ext cx="28378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Test-Driven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3538537"/>
            <a:ext cx="4572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ATDD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5650" y="3519487"/>
            <a:ext cx="27003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Acceptance Test-Driven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0" y="4748212"/>
            <a:ext cx="371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Inter"/>
              </a:rPr>
              <a:t>BDD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9925" y="4729162"/>
            <a:ext cx="33129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Behavior-Driven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2252067"/>
            <a:ext cx="5286375" cy="1500782"/>
          </a:xfrm>
          <a:prstGeom prst="roundRect">
            <a:avLst>
              <a:gd name="adj" fmla="val 76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3943350"/>
            <a:ext cx="5286375" cy="1500782"/>
          </a:xfrm>
          <a:prstGeom prst="roundRect">
            <a:avLst>
              <a:gd name="adj" fmla="val 76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47850"/>
            <a:ext cx="5305425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57375"/>
            <a:ext cx="5286375" cy="398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2.1.4 &amp; 2.1.5 — SHIFT LEFT &amp;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DevOps Alignment &amp; Shift-Left Mindset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490192"/>
            <a:ext cx="56578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Shift-Left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794992"/>
            <a:ext cx="490537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Performing testing activities earlier in the SDLC. Early static reviews and unit tests prevent costly downstream defect fixes.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181475"/>
            <a:ext cx="56578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Continuous Delivery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4486275"/>
            <a:ext cx="490537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Automated regression suites run continuously on CI/CD code commits, providing instant feedback to development teams.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3858"/>
            <a:ext cx="2600325" cy="2224682"/>
          </a:xfrm>
          <a:prstGeom prst="roundRect">
            <a:avLst>
              <a:gd name="adj" fmla="val 5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773858"/>
            <a:ext cx="2600325" cy="2224682"/>
          </a:xfrm>
          <a:prstGeom prst="roundRect">
            <a:avLst>
              <a:gd name="adj" fmla="val 5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773858"/>
            <a:ext cx="2600325" cy="2224682"/>
          </a:xfrm>
          <a:prstGeom prst="roundRect">
            <a:avLst>
              <a:gd name="adj" fmla="val 5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773858"/>
            <a:ext cx="2600325" cy="2224682"/>
          </a:xfrm>
          <a:prstGeom prst="roundRect">
            <a:avLst>
              <a:gd name="adj" fmla="val 51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2.1.2 &amp; 2.1.6 — BEST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Good Testing Practices &amp; Retrospectives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50083"/>
            <a:ext cx="2559843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554908"/>
            <a:ext cx="2250281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Corresponding Test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031158"/>
            <a:ext cx="2143125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Every software development activity has a matching test phase.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050083"/>
            <a:ext cx="2559843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D9488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3554908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Distinct Test Levels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6650" y="3831133"/>
            <a:ext cx="2143125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Each level maintains specific objectives and scope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3050083"/>
            <a:ext cx="2559843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D97706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3554908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Early Analysis &amp;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7475" y="3831133"/>
            <a:ext cx="2143125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Test analysis begins during design and requirement definition.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050083"/>
            <a:ext cx="2559843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7C3AED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3554908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Retrospectives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3831133"/>
            <a:ext cx="2143125" cy="891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Iterative review meetings drive continuous quality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96025" y="1695450"/>
            <a:ext cx="5286375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96025" y="2809875"/>
            <a:ext cx="5286375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6025" y="3924300"/>
            <a:ext cx="5286375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96025" y="5038725"/>
            <a:ext cx="5286375" cy="962025"/>
          </a:xfrm>
          <a:prstGeom prst="roundRect">
            <a:avLst>
              <a:gd name="adj" fmla="val 99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47850"/>
            <a:ext cx="5305425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57375"/>
            <a:ext cx="5286375" cy="398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2.2.1 — TEST LEVELS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Four Standard Test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1857375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Component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2095500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Focuses on isolated modules, units, or classes. Driven by developers using mocks.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2971800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Integration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3209925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Validates interactions and data flows between components or external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6050" y="4086225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System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4324350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Evaluates end-to-end overall system behavior against functional specs.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6050" y="5200650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4. Acceptance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6050" y="5438775"/>
            <a:ext cx="4981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Validates readiness for release; driven by users, clients, or product owners.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8703"/>
            <a:ext cx="3505200" cy="1854993"/>
          </a:xfrm>
          <a:prstGeom prst="roundRect">
            <a:avLst>
              <a:gd name="adj" fmla="val 61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8703"/>
            <a:ext cx="3505200" cy="1854993"/>
          </a:xfrm>
          <a:prstGeom prst="roundRect">
            <a:avLst>
              <a:gd name="adj" fmla="val 61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8703"/>
            <a:ext cx="3505200" cy="1854993"/>
          </a:xfrm>
          <a:prstGeom prst="roundRect">
            <a:avLst>
              <a:gd name="adj" fmla="val 61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63503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63503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63503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2.2.2 — TEST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Functional, Non-Functional &amp; Structural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77828"/>
            <a:ext cx="30480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Evaluates system functions ("what it does"). Evaluates requirements and business process compliance.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577828"/>
            <a:ext cx="30480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Evaluates operational attributes ("how well"). Measures performance, security, reliability, and usability.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577828"/>
            <a:ext cx="30480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Black-box targets specifications. White-box targets internal architecture and code structure coverage.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3234928"/>
            <a:ext cx="2200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Functional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7275" y="3234928"/>
            <a:ext cx="28003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Non-Functional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8700" y="3234928"/>
            <a:ext cx="24003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Black vs. White Box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8203"/>
            <a:ext cx="5334000" cy="2235993"/>
          </a:xfrm>
          <a:prstGeom prst="roundRect">
            <a:avLst>
              <a:gd name="adj" fmla="val 6815"/>
            </a:avLst>
          </a:prstGeom>
          <a:solidFill>
            <a:srgbClr val="F8FAFC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68203"/>
            <a:ext cx="5334000" cy="2235993"/>
          </a:xfrm>
          <a:prstGeom prst="roundRect">
            <a:avLst>
              <a:gd name="adj" fmla="val 6815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48200" y="3153965"/>
            <a:ext cx="933450" cy="23812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72700" y="3153965"/>
            <a:ext cx="1047750" cy="238125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2.2.3 — CHANGE-RELATED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Confirmation Testing vs. Regression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130153"/>
            <a:ext cx="303787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Confirmation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0" y="3192065"/>
            <a:ext cx="8001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Inter"/>
              </a:rPr>
              <a:t>Re-Testing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568303"/>
            <a:ext cx="4705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Target: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Executing failed test cases after defect resolution.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4162425"/>
            <a:ext cx="4705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Objective: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Confirm original defect has been successfully repaired.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0350" y="3130153"/>
            <a:ext cx="272534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Regression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3192065"/>
            <a:ext cx="914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Inter"/>
              </a:rPr>
              <a:t>Side-Effects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350" y="3568303"/>
            <a:ext cx="55816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Target: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Testing unchanged parts of the application.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350" y="3922514"/>
            <a:ext cx="4705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Objective: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Detect unintended side-effects or broken functionality. Primary automation candidate.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4853"/>
            <a:ext cx="3505200" cy="2502693"/>
          </a:xfrm>
          <a:prstGeom prst="roundRect">
            <a:avLst>
              <a:gd name="adj" fmla="val 45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34853"/>
            <a:ext cx="3505200" cy="2502693"/>
          </a:xfrm>
          <a:prstGeom prst="roundRect">
            <a:avLst>
              <a:gd name="adj" fmla="val 45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34853"/>
            <a:ext cx="3505200" cy="2502693"/>
          </a:xfrm>
          <a:prstGeom prst="roundRect">
            <a:avLst>
              <a:gd name="adj" fmla="val 45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49178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4917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4917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053953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3053953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3053953"/>
            <a:ext cx="1714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2.3 — MAINTENANCE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Triggers for Maintenance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20678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Modifications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63578"/>
            <a:ext cx="297180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Planned enhancements, feature updates, emergency hotfixes, and defect corrections in live production.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520678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863578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Platform upgrades, database transfers, cloud migrations, and operating system updates.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520678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Retirement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863578"/>
            <a:ext cx="2971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System decommissioning, data archiving validation, and migration data retrieval checks.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6144"/>
            <a:ext cx="2628900" cy="1839962"/>
          </a:xfrm>
          <a:prstGeom prst="roundRect">
            <a:avLst>
              <a:gd name="adj" fmla="val 62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2966144"/>
            <a:ext cx="2628900" cy="1839962"/>
          </a:xfrm>
          <a:prstGeom prst="roundRect">
            <a:avLst>
              <a:gd name="adj" fmla="val 62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966144"/>
            <a:ext cx="2628900" cy="1839962"/>
          </a:xfrm>
          <a:prstGeom prst="roundRect">
            <a:avLst>
              <a:gd name="adj" fmla="val 62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966144"/>
            <a:ext cx="2628900" cy="1839962"/>
          </a:xfrm>
          <a:prstGeom prst="roundRect">
            <a:avLst>
              <a:gd name="adj" fmla="val 621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320426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29025" y="320426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10325" y="320426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91625" y="3204269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SECTION 2.3 — MAINTENANCE SCOPING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Impact Analysis &amp; Regression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204269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623369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Evaluate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99594"/>
            <a:ext cx="2247900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Identify modified modules and architectural dependencies.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6150" y="3204269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9025" y="3623369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Assess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9025" y="3899594"/>
            <a:ext cx="2247900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Measure potential impact severity on existing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7450" y="3204269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3623369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Select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899594"/>
            <a:ext cx="2247900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Choose necessary regression test suites and new test cases.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0" y="3204269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3623369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Cost vs.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625" y="3899594"/>
            <a:ext cx="2247900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Balance regression depth against release timeline targets.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995862"/>
            <a:ext cx="1097280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09837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62312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014787"/>
            <a:ext cx="10972800" cy="600075"/>
          </a:xfrm>
          <a:prstGeom prst="roundRect">
            <a:avLst>
              <a:gd name="adj" fmla="val 1587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995862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71462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46710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219575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1433512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EXAM PREPARATION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719262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8FAFC"/>
                </a:solidFill>
                <a:latin typeface="Plus Jakarta Sans"/>
              </a:rPr>
              <a:t>Chapter 2 Core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233987"/>
            <a:ext cx="3512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ISTQB® CTFL v4.0 Syllabus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3100" y="5233987"/>
            <a:ext cx="2524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6 Exam Questions (K1 / K2)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2709862"/>
            <a:ext cx="962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Inter"/>
              </a:rPr>
              <a:t>SDLC Integration: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 Tailor testing to SDLC model; apply shift-left, TDD/BDD, and CI/CD pipelines.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462337"/>
            <a:ext cx="11001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Inter"/>
              </a:rPr>
              <a:t>Levels &amp; Types: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 Combine functional, non-functional, black-box, and white-box testing across all four levels.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4214812"/>
            <a:ext cx="11013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Inter"/>
              </a:rPr>
              <a:t>Maintenance Testing:</a:t>
            </a:r>
            <a:r>
              <a:rPr b="0" sz="1350" i="0" u="none">
                <a:solidFill>
                  <a:srgbClr val="E2E8F0"/>
                </a:solidFill>
                <a:latin typeface="Inter"/>
              </a:rPr>
              <a:t> Use impact analysis to determine regression testing scope for live software updates.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175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3462"/>
            <a:ext cx="445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https://miro.medium.com/1*p6dRU_zYkpcCPtyUOyvVAQ.png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3487"/>
            <a:ext cx="1916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804987"/>
            <a:ext cx="4488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https://miro.medium.com/1*ehdOWtE5WhAqF1CZs9ioxg.png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005012"/>
            <a:ext cx="1916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576512"/>
            <a:ext cx="852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https://cdn.prod.website-files.com/5eb9845c0972c01cdaec8415/63b49f08939f2bfb9d56454e_Cost-of-Defects.gif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776537"/>
            <a:ext cx="2702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www.functionize.com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348037"/>
            <a:ext cx="7929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https://agiletest.app/wp-content/uploads/2025/06/levels-of-software-testing-by-agiletest-1024x576.webp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548062"/>
            <a:ext cx="190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agiletest.app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